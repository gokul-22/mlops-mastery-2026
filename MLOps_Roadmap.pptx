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D4F6C"/>
          </a:solidFill>
          <a:ln w="12700">
            <a:solidFill>
              <a:srgbClr val="0D4F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82030"/>
          </a:solidFill>
          <a:ln w="12700">
            <a:solidFill>
              <a:srgbClr val="08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74320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137160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84048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229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 GUIDE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2344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8EA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Roadmap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A8BC"/>
                </a:solidFill>
              </a:rPr>
              <a:t>From zero to job-ready — all tools, prerequisites &amp; costs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1820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DB9"/>
                </a:solidFill>
              </a:rPr>
              <a:t>9 Phases  •  40+ Tools  •  $0 to Start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🗺  ROADMAP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554480" cy="731520"/>
          </a:xfrm>
          <a:prstGeom prst="rect">
            <a:avLst/>
          </a:prstGeom>
          <a:solidFill>
            <a:srgbClr val="0D4F6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96012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Prerequisites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92808" y="960120"/>
            <a:ext cx="1554480" cy="731520"/>
          </a:xfrm>
          <a:prstGeom prst="rect">
            <a:avLst/>
          </a:prstGeom>
          <a:solidFill>
            <a:srgbClr val="1A6B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2808" y="960120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92808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40280" y="96012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Version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57016" y="960120"/>
            <a:ext cx="1554480" cy="7315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960120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04488" y="96012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Experiment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21224" y="960120"/>
            <a:ext cx="1554480" cy="731520"/>
          </a:xfrm>
          <a:prstGeom prst="rect">
            <a:avLst/>
          </a:prstGeom>
          <a:solidFill>
            <a:srgbClr val="017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21224" y="960120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21224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68696" y="96012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Orchestration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85432" y="960120"/>
            <a:ext cx="1554480" cy="731520"/>
          </a:xfrm>
          <a:prstGeom prst="rect">
            <a:avLst/>
          </a:prstGeom>
          <a:solidFill>
            <a:srgbClr val="025E7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85432" y="960120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85432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32904" y="96012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Containerization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1801368"/>
            <a:ext cx="1554480" cy="731520"/>
          </a:xfrm>
          <a:prstGeom prst="rect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1801368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1801368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6072" y="1801368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Serving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92808" y="1801368"/>
            <a:ext cx="1554480" cy="731520"/>
          </a:xfrm>
          <a:prstGeom prst="rect">
            <a:avLst/>
          </a:prstGeom>
          <a:solidFill>
            <a:srgbClr val="0D8A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92808" y="1801368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892808" y="1801368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240280" y="1801368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Platforms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57016" y="1801368"/>
            <a:ext cx="1554480" cy="7315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57016" y="1801368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557016" y="1801368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904488" y="1801368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 for ML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21224" y="1801368"/>
            <a:ext cx="1554480" cy="731520"/>
          </a:xfrm>
          <a:prstGeom prst="rect">
            <a:avLst/>
          </a:prstGeom>
          <a:solidFill>
            <a:srgbClr val="1070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21224" y="1801368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221224" y="1801368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68696" y="1801368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85432" y="1801368"/>
            <a:ext cx="1554480" cy="731520"/>
          </a:xfrm>
          <a:prstGeom prst="rect">
            <a:avLst/>
          </a:prstGeom>
          <a:solidFill>
            <a:srgbClr val="2266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85432" y="1801368"/>
            <a:ext cx="320040" cy="7315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885432" y="1801368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32904" y="1801368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Stores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28600" y="4434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7788"/>
                </a:solidFill>
              </a:rPr>
              <a:t>Follow the phases in order for the best learning experience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PHASE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Prerequisites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3474720"/>
          </a:xfrm>
          <a:prstGeom prst="rect">
            <a:avLst/>
          </a:prstGeom>
          <a:solidFill>
            <a:srgbClr val="14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5176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🐍  Python &amp; Math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23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Python programming (must-have)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Linear Algebra basics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Statistics &amp; Probability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Data manipulation (Pandas, NumPy)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651760" cy="3474720"/>
          </a:xfrm>
          <a:prstGeom prst="rect">
            <a:avLst/>
          </a:prstGeom>
          <a:solidFill>
            <a:srgbClr val="14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97280"/>
            <a:ext cx="2651760" cy="475488"/>
          </a:xfrm>
          <a:prstGeom prst="rect">
            <a:avLst/>
          </a:prstGeom>
          <a:solidFill>
            <a:srgbClr val="017A6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Machine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691640"/>
            <a:ext cx="2423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Scikit-learn fundamentals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Model training &amp; evaluation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Deep Learning basics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Neural network concepts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651760" cy="3474720"/>
          </a:xfrm>
          <a:prstGeom prst="rect">
            <a:avLst/>
          </a:prstGeom>
          <a:solidFill>
            <a:srgbClr val="14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097280"/>
            <a:ext cx="2651760" cy="475488"/>
          </a:xfrm>
          <a:prstGeom prst="rect">
            <a:avLst/>
          </a:prstGeom>
          <a:solidFill>
            <a:srgbClr val="025E73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972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Software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691640"/>
            <a:ext cx="2423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Git &amp; GitHub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Linux CLI basics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Docker fundamentals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D4DE"/>
                </a:solidFill>
              </a:rPr>
              <a:t>REST APIs &amp; networking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1820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📚  Resources: freeCodeCamp, Khan Academy, fast.ai, CS50 — ALL FREE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PHASES 1 &amp; 2  —  Version Control &amp; Experiment Tracking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207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98755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2A3F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987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DB9"/>
                </a:solidFill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Git +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316736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Code versioning, collaboration, pull requests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80136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8013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914400"/>
            <a:ext cx="26517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914400"/>
            <a:ext cx="54864" cy="1207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98755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2A3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87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DB9"/>
                </a:solidFill>
              </a:rPr>
              <a:t>Phase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73552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DVC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73552" y="1316736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Data &amp; model version control — like Git for data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73552" y="180136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3273552" y="18013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0" y="914400"/>
            <a:ext cx="26517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914400"/>
            <a:ext cx="54864" cy="1207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98755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2A3F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987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DB9"/>
                </a:solidFill>
              </a:rPr>
              <a:t>Phase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08192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MLflow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08192" y="1316736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Experiment tracking, model registry, self-hosted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08192" y="180136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6108192" y="18013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FREE*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304288"/>
            <a:ext cx="26517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304288"/>
            <a:ext cx="54864" cy="1207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1920240" y="2377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2A3F"/>
          </a:solidFill>
          <a:ln/>
        </p:spPr>
      </p:sp>
      <p:sp>
        <p:nvSpPr>
          <p:cNvPr id="31" name="Text 29"/>
          <p:cNvSpPr/>
          <p:nvPr/>
        </p:nvSpPr>
        <p:spPr>
          <a:xfrm>
            <a:off x="192024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DB9"/>
                </a:solidFill>
              </a:rPr>
              <a:t>Phase 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8912" y="2377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Weights &amp; Biases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" y="270662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Visual experiment tracking, dashboards, collaboration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" y="319125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B703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3191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Tier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08960" y="2304288"/>
            <a:ext cx="26517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08960" y="2304288"/>
            <a:ext cx="54864" cy="1207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2377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2A3F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DB9"/>
                </a:solidFill>
              </a:rPr>
              <a:t>Phase 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73552" y="2377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Neptune.ai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273552" y="270662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Metadata store for ML experiments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73552" y="319125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B703"/>
          </a:solidFill>
          <a:ln/>
        </p:spPr>
      </p:sp>
      <p:sp>
        <p:nvSpPr>
          <p:cNvPr id="43" name="Text 41"/>
          <p:cNvSpPr/>
          <p:nvPr/>
        </p:nvSpPr>
        <p:spPr>
          <a:xfrm>
            <a:off x="3273552" y="3191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Tier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43600" y="2304288"/>
            <a:ext cx="26517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3600" y="2304288"/>
            <a:ext cx="54864" cy="1207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6" name="Shape 44"/>
          <p:cNvSpPr/>
          <p:nvPr/>
        </p:nvSpPr>
        <p:spPr>
          <a:xfrm>
            <a:off x="7589520" y="2377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2A3F"/>
          </a:solidFill>
          <a:ln/>
        </p:spPr>
      </p:sp>
      <p:sp>
        <p:nvSpPr>
          <p:cNvPr id="47" name="Text 45"/>
          <p:cNvSpPr/>
          <p:nvPr/>
        </p:nvSpPr>
        <p:spPr>
          <a:xfrm>
            <a:off x="758952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DB9"/>
                </a:solidFill>
              </a:rPr>
              <a:t>Phase 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08192" y="2377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Comet ML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108192" y="270662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Experiment management and reporting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08192" y="319125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B703"/>
          </a:solidFill>
          <a:ln/>
        </p:spPr>
      </p:sp>
      <p:sp>
        <p:nvSpPr>
          <p:cNvPr id="51" name="Text 49"/>
          <p:cNvSpPr/>
          <p:nvPr/>
        </p:nvSpPr>
        <p:spPr>
          <a:xfrm>
            <a:off x="6108192" y="3191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Tier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99"/>
                </a:solidFill>
              </a:rPr>
              <a:t>* MLflow free when self-hosted. Paid when using Databricks managed version.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7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PHASES 3 &amp; 4  —  Pipeline Orchestration &amp; Containerization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4023360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06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 — Pipeline Orchestration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" y="1463040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9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Apache Airflow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Industry standard, workflow DAGs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61848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618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3192" y="2121408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Prefect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Modern, easiest to start with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2276856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2768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Tier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3192" y="2779776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ZenML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054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ML-specific pipelines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2935224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9352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Tier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3192" y="3438144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Kubeflow Pipelines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On Kubernetes, needs cloud infra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3593592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593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FREE*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93192" y="4096512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Metaflow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By Netflix, data science workflows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4251960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914400"/>
            <a:ext cx="4206240" cy="4023360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914400"/>
            <a:ext cx="4206240" cy="457200"/>
          </a:xfrm>
          <a:prstGeom prst="rect">
            <a:avLst/>
          </a:prstGeom>
          <a:solidFill>
            <a:srgbClr val="025E73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 — Containerization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73752" y="1463040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1499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Docker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Package models &amp; apps into containers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18120" y="161848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7818120" y="1618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73752" y="2121408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Docker Compose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8348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Multi-container orchestration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818120" y="2276856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44" name="Text 42"/>
          <p:cNvSpPr/>
          <p:nvPr/>
        </p:nvSpPr>
        <p:spPr>
          <a:xfrm>
            <a:off x="7818120" y="22768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73752" y="2779776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Kubernetes (K8s)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83480" y="3054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Container orchestration at scale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18120" y="2935224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49" name="Text 47"/>
          <p:cNvSpPr/>
          <p:nvPr/>
        </p:nvSpPr>
        <p:spPr>
          <a:xfrm>
            <a:off x="7818120" y="29352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73752" y="3438144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Minikube / Kind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83480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Local Kubernetes for learning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818120" y="3593592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54" name="Text 52"/>
          <p:cNvSpPr/>
          <p:nvPr/>
        </p:nvSpPr>
        <p:spPr>
          <a:xfrm>
            <a:off x="7818120" y="3593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73752" y="4096512"/>
            <a:ext cx="3877056" cy="566928"/>
          </a:xfrm>
          <a:prstGeom prst="rect">
            <a:avLst/>
          </a:prstGeom>
          <a:solidFill>
            <a:srgbClr val="142535"/>
          </a:solidFill>
          <a:ln/>
        </p:spPr>
      </p:sp>
      <p:sp>
        <p:nvSpPr>
          <p:cNvPr id="56" name="Text 54"/>
          <p:cNvSpPr/>
          <p:nvPr/>
        </p:nvSpPr>
        <p:spPr>
          <a:xfrm>
            <a:off x="498348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Helm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8348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B9"/>
                </a:solidFill>
              </a:rPr>
              <a:t>Kubernetes package manager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818120" y="4251960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59" name="Text 57"/>
          <p:cNvSpPr/>
          <p:nvPr/>
        </p:nvSpPr>
        <p:spPr>
          <a:xfrm>
            <a:off x="781812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</a:rPr>
              <a:t>⭐ Recommendation: Learn Prefect first (beginner-friendly), then Airflow (industry standard), Docker before Kubernetes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PHASES 5 &amp; 6  —  Model Serving &amp; Cloud Platforms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5 — Model Serving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63040"/>
            <a:ext cx="457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90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FastAPI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Build ML REST APIs quickly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60020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6002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2029968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029968"/>
            <a:ext cx="457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57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BentoML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Model packaging &amp; serving framework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216712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167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2596896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596896"/>
            <a:ext cx="457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624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TorchServe / TF Serving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852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Framework-native model serving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0" y="2734056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2734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3163824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163824"/>
            <a:ext cx="457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191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Ray Serve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4198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Scalable model serving (Anyscale cloud = paid)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330098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33009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3730752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730752"/>
            <a:ext cx="457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7581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Triton Inference Server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986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NVIDIA high-perf inference server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386791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0" y="38679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4297680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4297680"/>
            <a:ext cx="457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3251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Seldon Core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5537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Advanced ML serving on Kubernetes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0" y="443484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0" y="44348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09160" y="914400"/>
            <a:ext cx="4206240" cy="45720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6 — Cloud Platforms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709160" y="1463040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1463040"/>
            <a:ext cx="45720" cy="50292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1490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Google Colab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1719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Free GPU notebooks, best for learners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21040" y="160020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/>
        </p:spPr>
      </p:sp>
      <p:sp>
        <p:nvSpPr>
          <p:cNvPr id="49" name="Text 47"/>
          <p:cNvSpPr/>
          <p:nvPr/>
        </p:nvSpPr>
        <p:spPr>
          <a:xfrm>
            <a:off x="8321040" y="16002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09160" y="2029968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2029968"/>
            <a:ext cx="45720" cy="50292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52" name="Text 50"/>
          <p:cNvSpPr/>
          <p:nvPr/>
        </p:nvSpPr>
        <p:spPr>
          <a:xfrm>
            <a:off x="4846320" y="2057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Kaggle Notebooks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846320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Free GPU &amp; TPU access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21040" y="216712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EC4B6"/>
          </a:solidFill>
          <a:ln/>
        </p:spPr>
      </p:sp>
      <p:sp>
        <p:nvSpPr>
          <p:cNvPr id="55" name="Text 53"/>
          <p:cNvSpPr/>
          <p:nvPr/>
        </p:nvSpPr>
        <p:spPr>
          <a:xfrm>
            <a:off x="8321040" y="2167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09160" y="2596896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09160" y="2596896"/>
            <a:ext cx="45720" cy="50292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2624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Hugging Face Spaces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846320" y="2852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Deploy ML apps for free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321040" y="2734056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FB703"/>
          </a:solidFill>
          <a:ln/>
        </p:spPr>
      </p:sp>
      <p:sp>
        <p:nvSpPr>
          <p:cNvPr id="61" name="Text 59"/>
          <p:cNvSpPr/>
          <p:nvPr/>
        </p:nvSpPr>
        <p:spPr>
          <a:xfrm>
            <a:off x="8321040" y="2734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 Tier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09160" y="3163824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09160" y="3163824"/>
            <a:ext cx="45720" cy="50292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64" name="Text 62"/>
          <p:cNvSpPr/>
          <p:nvPr/>
        </p:nvSpPr>
        <p:spPr>
          <a:xfrm>
            <a:off x="4846320" y="31912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AWS SageMaker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846320" y="34198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End-to-end ML platform (free tier limited)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321040" y="330098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67" name="Text 65"/>
          <p:cNvSpPr/>
          <p:nvPr/>
        </p:nvSpPr>
        <p:spPr>
          <a:xfrm>
            <a:off x="8321040" y="33009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Paid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09160" y="3730752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09160" y="3730752"/>
            <a:ext cx="45720" cy="50292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70" name="Text 68"/>
          <p:cNvSpPr/>
          <p:nvPr/>
        </p:nvSpPr>
        <p:spPr>
          <a:xfrm>
            <a:off x="4846320" y="37581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Google Vertex AI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846320" y="3986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GCP ML platform, new user credits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321040" y="386791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FB703"/>
          </a:solidFill>
          <a:ln/>
        </p:spPr>
      </p:sp>
      <p:sp>
        <p:nvSpPr>
          <p:cNvPr id="73" name="Text 71"/>
          <p:cNvSpPr/>
          <p:nvPr/>
        </p:nvSpPr>
        <p:spPr>
          <a:xfrm>
            <a:off x="8321040" y="38679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Credits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09160" y="4297680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709160" y="4297680"/>
            <a:ext cx="45720" cy="50292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76" name="Text 74"/>
          <p:cNvSpPr/>
          <p:nvPr/>
        </p:nvSpPr>
        <p:spPr>
          <a:xfrm>
            <a:off x="4846320" y="43251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Azure ML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4846320" y="45537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Microsoft ML platform, new user credits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321040" y="443484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FB703"/>
          </a:solidFill>
          <a:ln/>
        </p:spPr>
      </p:sp>
      <p:sp>
        <p:nvSpPr>
          <p:cNvPr id="79" name="Text 77"/>
          <p:cNvSpPr/>
          <p:nvPr/>
        </p:nvSpPr>
        <p:spPr>
          <a:xfrm>
            <a:off x="8321040" y="44348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Credits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677"/>
                </a:solidFill>
              </a:rPr>
              <a:t>⭐ Learner tip: Use Google Colab + Hugging Face Spaces to avoid all cloud costs while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70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PHASES 7, 8 &amp; 9  —  CI/CD, Monitoring &amp; Feature Stores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651760" cy="43891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7 — CI/CD for 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265176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721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GitHub 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2,000 min/month free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67335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67335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2258568"/>
            <a:ext cx="265176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313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GitLab CI/CD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Generous free plan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25146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251460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 Tier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2880" y="3099816"/>
            <a:ext cx="265176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Jenkins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Self-hosted, open source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3355848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33558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2880" y="3941064"/>
            <a:ext cx="265176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995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CML (Iterative.ai)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288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ML-specific CI/CD reports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65960" y="4197096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1965960" y="41970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063240" y="914400"/>
            <a:ext cx="265176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3154680" y="914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8 — Monitoring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63240" y="1417320"/>
            <a:ext cx="265176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14721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Evidently AI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1764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Data &amp; model drift detection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167335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67335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063240" y="2258568"/>
            <a:ext cx="265176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0" y="2313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WhyLogs / WhyLabs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Data logging &amp; monitoring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5146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FB703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51460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 Tier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63240" y="3099816"/>
            <a:ext cx="265176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0040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Grafana + Prometheus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Infrastructure metrics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355848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3558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63240" y="3941064"/>
            <a:ext cx="265176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00400" y="3995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Arize AI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00400" y="4288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ML observability platform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197096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FB703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41970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 Tier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943600" y="914400"/>
            <a:ext cx="3017520" cy="438912"/>
          </a:xfrm>
          <a:prstGeom prst="rect">
            <a:avLst/>
          </a:prstGeom>
          <a:solidFill>
            <a:srgbClr val="226677"/>
          </a:solidFill>
          <a:ln/>
        </p:spPr>
      </p:sp>
      <p:sp>
        <p:nvSpPr>
          <p:cNvPr id="49" name="Text 47"/>
          <p:cNvSpPr/>
          <p:nvPr/>
        </p:nvSpPr>
        <p:spPr>
          <a:xfrm>
            <a:off x="6035040" y="9144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9 — Feature Stores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43600" y="1417320"/>
            <a:ext cx="301752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080760" y="1472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Feast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80760" y="17647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Open source feature store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92440" y="167335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54" name="Text 52"/>
          <p:cNvSpPr/>
          <p:nvPr/>
        </p:nvSpPr>
        <p:spPr>
          <a:xfrm>
            <a:off x="8092440" y="167335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943600" y="2258568"/>
            <a:ext cx="301752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08076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Hopsworks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080760" y="2606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Community edition available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092440" y="25146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FB703"/>
          </a:solidFill>
          <a:ln/>
        </p:spPr>
      </p:sp>
      <p:sp>
        <p:nvSpPr>
          <p:cNvPr id="59" name="Text 57"/>
          <p:cNvSpPr/>
          <p:nvPr/>
        </p:nvSpPr>
        <p:spPr>
          <a:xfrm>
            <a:off x="8092440" y="251460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 Tier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943600" y="3099816"/>
            <a:ext cx="301752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0807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Tecton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080760" y="3447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Enterprise feature platform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92440" y="3355848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/>
        </p:spPr>
      </p:sp>
      <p:sp>
        <p:nvSpPr>
          <p:cNvPr id="64" name="Text 62"/>
          <p:cNvSpPr/>
          <p:nvPr/>
        </p:nvSpPr>
        <p:spPr>
          <a:xfrm>
            <a:off x="8092440" y="33558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PAID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943600" y="3941064"/>
            <a:ext cx="3017520" cy="749808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080760" y="3995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AWS Feature Store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080760" y="42885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SageMaker integrated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092440" y="4197096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/>
        </p:spPr>
      </p:sp>
      <p:sp>
        <p:nvSpPr>
          <p:cNvPr id="69" name="Text 67"/>
          <p:cNvSpPr/>
          <p:nvPr/>
        </p:nvSpPr>
        <p:spPr>
          <a:xfrm>
            <a:off x="8092440" y="41970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Paid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LEARNING RESOURCES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54864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987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Made With 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madewithml.com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1463040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Project-based MLOps course by Goku Mohandas. Covers the full stack.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98755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987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FREE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54864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987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Full Stack Deep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fullstackdeeplearning.com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73752" y="1463040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End-to-end ML system design — from training to deployment.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98755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987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FREE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2402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240280"/>
            <a:ext cx="54864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MLOps Zoomcamp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DataTalks.Club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" y="2788920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Free cohort-based bootcamp by DataTalks.Club — very hands-on.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231343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313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FREE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240280"/>
            <a:ext cx="54864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Coursera MLOps Specialization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coursera.org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73752" y="2788920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Andrew Ng's MLOps specialization — audit for free.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09560" y="231343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2313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Audit Free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5661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566160"/>
            <a:ext cx="54864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Udemy MLOps Courses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udemy.com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192" y="4114800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Various practical courses, usually $10–$20 on sale.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6160" y="363931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FB703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639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$10–20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566160"/>
            <a:ext cx="54864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4873752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Official Tool Docs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73752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Various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73752" y="4114800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MLflow, DVC, Prefect, ZenML, BentoML all have excellent free docs.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46720" y="363931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3639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FREE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💰  COST SUMMARY — Can You Learn MLOps for FREE?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2286000"/>
          </a:xfrm>
          <a:prstGeom prst="rect">
            <a:avLst/>
          </a:prstGeom>
          <a:solidFill>
            <a:srgbClr val="08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2C39A"/>
                </a:solidFill>
              </a:rPr>
              <a:t>$0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28600" y="2377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DB9"/>
                </a:solidFill>
              </a:rPr>
              <a:t>Possible total cost to become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EADB9"/>
                </a:solidFill>
              </a:rPr>
              <a:t>job-ready in MLOps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343400" cy="512064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81728" y="10241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Core Tools (MLflow, DVC, ZenML, Docker, K8s, Airflow...)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38160" y="109728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0972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100% FREE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0" y="1545336"/>
            <a:ext cx="4343400" cy="512064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16093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Experiment Tracking (W&amp;B, Neptune, Comet — free tiers)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68249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6824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FREE TIER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0" y="2130552"/>
            <a:ext cx="4343400" cy="512064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81728" y="2194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CI/CD (GitHub Actions — 2,000 min/mo)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226771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22677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FREE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0" y="2715768"/>
            <a:ext cx="4343400" cy="512064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81728" y="27797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GPU Notebooks (Google Colab, Kaggle)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285292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28529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FREE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0" y="3300984"/>
            <a:ext cx="4343400" cy="512064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81728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Model Deployment (Hugging Face Spaces)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3438144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34381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FREE TIER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0" y="3886200"/>
            <a:ext cx="4343400" cy="512064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81728" y="39502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Cloud Infra (AWS/GCP/Azure) — optional for learning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4023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Use Credits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72000" y="4471416"/>
            <a:ext cx="4343400" cy="512064"/>
          </a:xfrm>
          <a:prstGeom prst="rect">
            <a:avLst/>
          </a:prstGeom>
          <a:solidFill>
            <a:srgbClr val="0D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81728" y="453542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B9"/>
                </a:solidFill>
              </a:rPr>
              <a:t>Courses (Zoomcamp, Made With ML, Full Stack DL)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460857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46085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FREE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1820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DB9"/>
                </a:solidFill>
              </a:rPr>
              <a:t>Cloud costs only apply at scale — not required during the learning phase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✅  STEP-BY-STEP LEARNING ORDER — Beginner → Job-Ready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38912" cy="548640"/>
          </a:xfrm>
          <a:prstGeom prst="rect">
            <a:avLst/>
          </a:prstGeom>
          <a:solidFill>
            <a:srgbClr val="0D4F6C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978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Python + Git + Linux CLI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225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4–8 weeks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" y="1463040"/>
            <a:ext cx="0" cy="137160"/>
          </a:xfrm>
          <a:prstGeom prst="line">
            <a:avLst/>
          </a:prstGeom>
          <a:noFill/>
          <a:ln w="19050">
            <a:solidFill>
              <a:srgbClr val="0D4F6C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4709160" y="9144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38912" cy="54864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9144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978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ML fundamentals with Scikit-learn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225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4–6 weeks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28616" y="1463040"/>
            <a:ext cx="0" cy="137160"/>
          </a:xfrm>
          <a:prstGeom prst="line">
            <a:avLst/>
          </a:prstGeom>
          <a:noFill/>
          <a:ln w="19050">
            <a:solidFill>
              <a:srgbClr val="1A6B8A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228600" y="16002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600200"/>
            <a:ext cx="43891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16002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16642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Docker → then Minikube (local Kubernetes)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1911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2–3 weeks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" y="2148840"/>
            <a:ext cx="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4709160" y="16002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600200"/>
            <a:ext cx="438912" cy="548640"/>
          </a:xfrm>
          <a:prstGeom prst="rect">
            <a:avLst/>
          </a:prstGeom>
          <a:solidFill>
            <a:srgbClr val="017A6B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6002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16642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MLflow or W&amp;B — experiment tracking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1911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1–2 weeks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28616" y="2148840"/>
            <a:ext cx="0" cy="137160"/>
          </a:xfrm>
          <a:prstGeom prst="line">
            <a:avLst/>
          </a:prstGeom>
          <a:noFill/>
          <a:ln w="19050">
            <a:solidFill>
              <a:srgbClr val="017A6B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228600" y="22860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286000"/>
            <a:ext cx="438912" cy="548640"/>
          </a:xfrm>
          <a:prstGeom prst="rect">
            <a:avLst/>
          </a:prstGeom>
          <a:solidFill>
            <a:srgbClr val="025E73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22860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2350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DVC — data &amp; model versioning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1 week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056" y="2834640"/>
            <a:ext cx="0" cy="137160"/>
          </a:xfrm>
          <a:prstGeom prst="line">
            <a:avLst/>
          </a:prstGeom>
          <a:noFill/>
          <a:ln w="19050">
            <a:solidFill>
              <a:srgbClr val="025E73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4709160" y="22860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286000"/>
            <a:ext cx="438912" cy="5486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22860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12080" y="2350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Prefect or ZenML — ML pipelines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2 weeks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28616" y="2834640"/>
            <a:ext cx="0" cy="137160"/>
          </a:xfrm>
          <a:prstGeom prst="line">
            <a:avLst/>
          </a:prstGeom>
          <a:noFill/>
          <a:ln w="19050">
            <a:solidFill>
              <a:srgbClr val="2EC4B6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228600" y="29718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2971800"/>
            <a:ext cx="438912" cy="548640"/>
          </a:xfrm>
          <a:prstGeom prst="rect">
            <a:avLst/>
          </a:prstGeom>
          <a:solidFill>
            <a:srgbClr val="0D8A7A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29718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1520" y="3035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FastAPI + BentoML — model serving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1520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2 weeks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8056" y="3520440"/>
            <a:ext cx="0" cy="137160"/>
          </a:xfrm>
          <a:prstGeom prst="line">
            <a:avLst/>
          </a:prstGeom>
          <a:noFill/>
          <a:ln w="19050">
            <a:solidFill>
              <a:srgbClr val="0D8A7A"/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4709160" y="29718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971800"/>
            <a:ext cx="438912" cy="548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29718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212080" y="3035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GitHub Actions — CI/CD automation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12080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1–2 weeks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28616" y="3520440"/>
            <a:ext cx="0" cy="137160"/>
          </a:xfrm>
          <a:prstGeom prst="line">
            <a:avLst/>
          </a:prstGeom>
          <a:noFill/>
          <a:ln w="19050">
            <a:solidFill>
              <a:srgbClr val="1B6CA8"/>
            </a:solidFill>
            <a:prstDash val="sysDot"/>
          </a:ln>
        </p:spPr>
      </p:sp>
      <p:sp>
        <p:nvSpPr>
          <p:cNvPr id="52" name="Shape 50"/>
          <p:cNvSpPr/>
          <p:nvPr/>
        </p:nvSpPr>
        <p:spPr>
          <a:xfrm>
            <a:off x="228600" y="36576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28600" y="3657600"/>
            <a:ext cx="438912" cy="548640"/>
          </a:xfrm>
          <a:prstGeom prst="rect">
            <a:avLst/>
          </a:prstGeom>
          <a:solidFill>
            <a:srgbClr val="107060"/>
          </a:solidFill>
          <a:ln/>
        </p:spPr>
      </p:sp>
      <p:sp>
        <p:nvSpPr>
          <p:cNvPr id="54" name="Text 52"/>
          <p:cNvSpPr/>
          <p:nvPr/>
        </p:nvSpPr>
        <p:spPr>
          <a:xfrm>
            <a:off x="228600" y="36576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1520" y="3721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Evidently AI — model monitoring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31520" y="3968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1 week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9160" y="3657600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09160" y="3657600"/>
            <a:ext cx="438912" cy="548640"/>
          </a:xfrm>
          <a:prstGeom prst="rect">
            <a:avLst/>
          </a:prstGeom>
          <a:solidFill>
            <a:srgbClr val="226677"/>
          </a:solidFill>
          <a:ln/>
        </p:spPr>
      </p:sp>
      <p:sp>
        <p:nvSpPr>
          <p:cNvPr id="59" name="Text 57"/>
          <p:cNvSpPr/>
          <p:nvPr/>
        </p:nvSpPr>
        <p:spPr>
          <a:xfrm>
            <a:off x="4709160" y="365760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212080" y="3721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Cloud platform (GCP or AWS free tier)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12080" y="3968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899"/>
                </a:solidFill>
              </a:rPr>
              <a:t>⏱  Ongoing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Total estimated time to job-readiness: 6–12 months with consistent daily practice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0D4F6C"/>
          </a:solidFill>
          <a:ln w="12700">
            <a:solidFill>
              <a:srgbClr val="0D4F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82030"/>
          </a:solidFill>
          <a:ln w="12700">
            <a:solidFill>
              <a:srgbClr val="08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You're Ready.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ADB9"/>
                </a:solidFill>
              </a:rPr>
              <a:t>Start with Python. Build projects. Deploy something real.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" y="3017520"/>
            <a:ext cx="169164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Made With 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7380" y="3017520"/>
            <a:ext cx="1691640" cy="411480"/>
          </a:xfrm>
          <a:prstGeom prst="roundRect">
            <a:avLst>
              <a:gd name="adj" fmla="val 22222"/>
            </a:avLst>
          </a:prstGeom>
          <a:solidFill>
            <a:srgbClr val="0D4F6C"/>
          </a:solidFill>
          <a:ln/>
        </p:spPr>
      </p:sp>
      <p:sp>
        <p:nvSpPr>
          <p:cNvPr id="10" name="Text 8"/>
          <p:cNvSpPr/>
          <p:nvPr/>
        </p:nvSpPr>
        <p:spPr>
          <a:xfrm>
            <a:off x="189738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DataTalks Zoomcamp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26180" y="3017520"/>
            <a:ext cx="1691640" cy="411480"/>
          </a:xfrm>
          <a:prstGeom prst="roundRect">
            <a:avLst>
              <a:gd name="adj" fmla="val 22222"/>
            </a:avLst>
          </a:prstGeom>
          <a:solidFill>
            <a:srgbClr val="107060"/>
          </a:solidFill>
          <a:ln/>
        </p:spPr>
      </p:sp>
      <p:sp>
        <p:nvSpPr>
          <p:cNvPr id="12" name="Text 10"/>
          <p:cNvSpPr/>
          <p:nvPr/>
        </p:nvSpPr>
        <p:spPr>
          <a:xfrm>
            <a:off x="372618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 Stack DL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54980" y="3017520"/>
            <a:ext cx="1691640" cy="411480"/>
          </a:xfrm>
          <a:prstGeom prst="roundRect">
            <a:avLst>
              <a:gd name="adj" fmla="val 22222"/>
            </a:avLst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555498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MLflow Docs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83780" y="3017520"/>
            <a:ext cx="1691640" cy="411480"/>
          </a:xfrm>
          <a:prstGeom prst="roundRect">
            <a:avLst>
              <a:gd name="adj" fmla="val 22222"/>
            </a:avLst>
          </a:prstGeom>
          <a:solidFill>
            <a:srgbClr val="017A6B"/>
          </a:solidFill>
          <a:ln/>
        </p:spPr>
      </p:sp>
      <p:sp>
        <p:nvSpPr>
          <p:cNvPr id="16" name="Text 14"/>
          <p:cNvSpPr/>
          <p:nvPr/>
        </p:nvSpPr>
        <p:spPr>
          <a:xfrm>
            <a:off x="738378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DVC.org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DB9"/>
                </a:solidFill>
              </a:rPr>
              <a:t>Total cost to get started: $0  •  All tools available today  •  Community support everywhere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1820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MLOps Roadmap  •  Updated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Learning Roadmap</dc:title>
  <dc:subject>PptxGenJS Presentation</dc:subject>
  <dc:creator>PptxGenJS</dc:creator>
  <cp:lastModifiedBy>PptxGenJS</cp:lastModifiedBy>
  <cp:revision>1</cp:revision>
  <dcterms:created xsi:type="dcterms:W3CDTF">2026-02-19T15:36:41Z</dcterms:created>
  <dcterms:modified xsi:type="dcterms:W3CDTF">2026-02-19T15:36:41Z</dcterms:modified>
</cp:coreProperties>
</file>